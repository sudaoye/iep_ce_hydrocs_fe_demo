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5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、同学，大家好。在项目的第一阶段，我们的主要工作是完成遥感数据的收集与准备。我们从USGS和ESA等权威平台获取了Landsat和Sentinel系列的多源卫星影像，并对其进行了严格的预处理，包括辐射定标、大气校正和几何校正，确保了数据的准确性和可用性。右侧这张图就是我们获取的典型假彩色合成影像，为后续的分析工作提供了高质量的数据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获取了高质量数据后，我们使用专业的ENVI软件进行了数据处理。我们完成了影像的拼接、裁剪等基础操作，并进行了图像增强以突出地物特征。更重要的是，我们开展了初步的专题信息提取工作，比如尝试了土地利用分类，并成功计算了NDVI植被指数。右侧的流程图概括了我们主要的处理步骤，目前我们已经完成了从原始数据到初步分析结果的转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第一阶段的成果，我们制定了下一阶段的详细计划。一方面，我们将在ENVI中进行更深入的处理，比如引入机器学习方法进行精细化分类，并开展时间序列分析。另一方面，也是我们的重点，是将ENVI的处理结果与Python编程进行对接。我们计划利用Python强大的数据分析和建模能力，开发自动化的处理流程，最终形成一套完整的工具链，实现从数据到知识的高效转化。下方的流程图展示了我们这一阶段的核心技术路线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svg"/><Relationship Id="rId3" Type="http://schemas.openxmlformats.org/officeDocument/2006/relationships/image" Target="../media/image1.png"/><Relationship Id="rId20" Type="http://schemas.openxmlformats.org/officeDocument/2006/relationships/notesSlide" Target="../notesSlides/notesSlide1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2.xml"/><Relationship Id="rId18" Type="http://schemas.openxmlformats.org/officeDocument/2006/relationships/tags" Target="../tags/tag12.xml"/><Relationship Id="rId17" Type="http://schemas.openxmlformats.org/officeDocument/2006/relationships/tags" Target="../tags/tag11.xml"/><Relationship Id="rId16" Type="http://schemas.openxmlformats.org/officeDocument/2006/relationships/image" Target="../media/image6.svg"/><Relationship Id="rId15" Type="http://schemas.openxmlformats.org/officeDocument/2006/relationships/image" Target="../media/image5.png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image" Target="../media/image4.sv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6.jpeg"/><Relationship Id="rId4" Type="http://schemas.openxmlformats.org/officeDocument/2006/relationships/image" Target="../media/image15.svg"/><Relationship Id="rId3" Type="http://schemas.openxmlformats.org/officeDocument/2006/relationships/image" Target="../media/image14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第一阶段成果：遥感数据收集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5"/>
            </p:custDataLst>
          </p:nvPr>
        </p:nvSpPr>
        <p:spPr>
          <a:xfrm>
            <a:off x="1714500" y="1651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</a:t>
            </a: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卫星数据源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6"/>
            </p:custDataLst>
          </p:nvPr>
        </p:nvSpPr>
        <p:spPr>
          <a:xfrm>
            <a:off x="1714500" y="2032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整合GF-1/6、Sentinel 等多源卫星遥感影像，覆盖可见光至红外光谱范围。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7"/>
            </p:custDataLst>
          </p:nvPr>
        </p:nvSpPr>
        <p:spPr>
          <a:xfrm>
            <a:off x="762000" y="29845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33020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1"/>
            </p:custDataLst>
          </p:nvPr>
        </p:nvSpPr>
        <p:spPr>
          <a:xfrm>
            <a:off x="1714500" y="3111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权威平台获取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2"/>
            </p:custDataLst>
          </p:nvPr>
        </p:nvSpPr>
        <p:spPr>
          <a:xfrm>
            <a:off x="1714500" y="3492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USGS EarthExplorer、ESA Copernicus Open Access Hub 等权威平台获取原始数据。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3"/>
            </p:custDataLst>
          </p:nvPr>
        </p:nvSpPr>
        <p:spPr>
          <a:xfrm>
            <a:off x="762000" y="4445000"/>
            <a:ext cx="5334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16000" y="4762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7"/>
            </p:custDataLst>
          </p:nvPr>
        </p:nvSpPr>
        <p:spPr>
          <a:xfrm>
            <a:off x="1714500" y="4572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严格数据预处理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8"/>
            </p:custDataLst>
          </p:nvPr>
        </p:nvSpPr>
        <p:spPr>
          <a:xfrm>
            <a:off x="1714500" y="4953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执行辐射定标、大气校正、几何校正等流程，确保数据质量满足分析要求。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4092">
            <a:off x="762004" y="60896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8892B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第一阶段成果：ENVI 遥感数据处理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7145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651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专业软件平台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524000" y="2032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采用行业标准的 ENVI 5.6 软件，具备强大的遥感影像可视化与分析能力，确保数据处理的专业性与准确性。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304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298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标准化处理流程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524000" y="33655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完成影像拼接、裁剪、波段组合；实施对比度拉伸与滤波去噪等图像增强操作，提升地物辨识度。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842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5000"/>
            </a:srgbClr>
          </a:solidFill>
          <a:ln cap="flat" cmpd="sng">
            <a:solidFill>
              <a:srgbClr val="E6CFCF">
                <a:alpha val="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4381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31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专题信息提取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524000" y="4699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开展土地利用/覆盖监督分类实验；成功提取NDVI归一化植被指数，初步掌握区域植被覆盖状况。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089140" y="1524000"/>
            <a:ext cx="4399280" cy="3263900"/>
          </a:xfrm>
          <a:prstGeom prst="roundRect">
            <a:avLst>
              <a:gd name="adj" fmla="val 5000"/>
            </a:avLst>
          </a:prstGeom>
          <a:solidFill>
            <a:srgbClr val="64FFDA">
              <a:alpha val="10000"/>
            </a:srgbClr>
          </a:solidFill>
          <a:ln w="12700" cap="flat" cmpd="sng">
            <a:solidFill>
              <a:srgbClr val="64FFD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cxnSp>
        <p:nvCxnSpPr>
          <p:cNvPr id="18" name="Connector 18"/>
          <p:cNvCxnSpPr/>
          <p:nvPr/>
        </p:nvCxnSpPr>
        <p:spPr>
          <a:xfrm rot="-4092">
            <a:off x="762004" y="6089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" name="图片 18" descr="b5e0bfa84e405f6241e3cf14eef53f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6135" y="1818005"/>
            <a:ext cx="4253865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下一阶段计划：深入处理与程序对接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587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33500" y="1549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深入处理：精度与维度提升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19685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CCD6F6"/>
              </a:buClr>
              <a:buFont typeface="Wingdings" panose="05000000000000000000"/>
              <a:buChar char="v"/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精细化分类：</a:t>
            </a:r>
            <a:r>
              <a:rPr lang="en-US" sz="14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引入机器学习算法，提升地物分类精度。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Font typeface="Wingdings" panose="05000000000000000000"/>
              <a:buChar char="v"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时间序列分析：</a:t>
            </a:r>
            <a:r>
              <a:rPr lang="en-US" sz="14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利用多时相数据，分析区域土地利用动态变化规律。</a:t>
            </a:r>
            <a:endParaRPr lang="en-US" sz="1400" b="0" i="0" u="none" strike="noStrike">
              <a:solidFill>
                <a:srgbClr val="8892B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buClr>
                <a:srgbClr val="CCD6F6"/>
              </a:buClr>
              <a:buFont typeface="Wingdings" panose="05000000000000000000"/>
              <a:buNone/>
            </a:pPr>
            <a:endParaRPr lang="en-US" sz="1400" b="0" i="0" u="none" strike="noStrike">
              <a:solidFill>
                <a:srgbClr val="8892B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1397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64FFDA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1587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794500" y="1549400"/>
            <a:ext cx="444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FFD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程序对接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1968500"/>
            <a:ext cx="482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77800" indent="-177800" algn="l">
              <a:lnSpc>
                <a:spcPct val="125000"/>
              </a:lnSpc>
              <a:buClr>
                <a:srgbClr val="CCD6F6"/>
              </a:buClr>
              <a:buFont typeface="Wingdings" panose="05000000000000000000"/>
              <a:buChar char="v"/>
              <a:defRPr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平台选择：</a:t>
            </a:r>
            <a:r>
              <a:rPr lang="en-US" sz="14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采用Python语言，结合GDAL、Rasterio等专业库。</a:t>
            </a:r>
            <a:endParaRPr lang="en-US" sz="1100"/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Font typeface="Wingdings" panose="05000000000000000000"/>
              <a:buChar char="v"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核心目标：</a:t>
            </a:r>
            <a:r>
              <a:rPr lang="en-US" sz="14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对接ENVI结果。</a:t>
            </a:r>
            <a:endParaRPr lang="en-US" sz="1400" b="0" i="0" u="none" strike="noStrike">
              <a:solidFill>
                <a:srgbClr val="8892B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7800" indent="-177800" algn="l">
              <a:lnSpc>
                <a:spcPct val="125000"/>
              </a:lnSpc>
              <a:buClr>
                <a:srgbClr val="CCD6F6"/>
              </a:buClr>
              <a:buFont typeface="Wingdings" panose="05000000000000000000"/>
              <a:buChar char="v"/>
            </a:pPr>
            <a:r>
              <a:rPr lang="en-US" sz="1400" b="1" i="0" u="none" strike="noStrike">
                <a:solidFill>
                  <a:srgbClr val="CCD6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预期成果：</a:t>
            </a:r>
            <a:r>
              <a:rPr lang="en-US" sz="1400" b="0" i="0" u="none" strike="noStrike">
                <a:solidFill>
                  <a:srgbClr val="8892B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提升研究效率与成果可重复性。</a:t>
            </a:r>
            <a:endParaRPr lang="en-US" sz="1400" b="0" i="0" u="none" strike="noStrike">
              <a:solidFill>
                <a:srgbClr val="8892B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556000" y="3556000"/>
            <a:ext cx="5080000" cy="2857500"/>
          </a:xfrm>
          <a:prstGeom prst="rect">
            <a:avLst/>
          </a:prstGeom>
          <a:noFill/>
          <a:ln w="12700" cap="flat" cmpd="sng">
            <a:solidFill>
              <a:srgbClr val="64FFDA">
                <a:alpha val="50000"/>
              </a:srgbClr>
            </a:solidFill>
            <a:prstDash val="solid"/>
            <a:round/>
          </a:ln>
          <a:effectLst>
            <a:outerShdw blurRad="127000" dist="63500" dir="5400000" algn="t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2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3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4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5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6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7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8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9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10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11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ags/tag12.xml><?xml version="1.0" encoding="utf-8"?>
<p:tagLst xmlns:p="http://schemas.openxmlformats.org/presentationml/2006/main">
  <p:tag name="KSO_WM_DIAGRAM_VIRTUALLY_FRAME" val="{&quot;height&quot;:330,&quot;left&quot;:60,&quot;top&quot;:120,&quot;width&quot;:42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WPS 演示</Application>
  <PresentationFormat/>
  <Paragraphs>42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Arial</vt:lpstr>
      <vt:lpstr>宋体</vt:lpstr>
      <vt:lpstr>Wingdings</vt:lpstr>
      <vt:lpstr>Arial</vt:lpstr>
      <vt:lpstr>Noto Sans SC</vt:lpstr>
      <vt:lpstr>Wingdings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李文谦</cp:lastModifiedBy>
  <cp:revision>2</cp:revision>
  <dcterms:created xsi:type="dcterms:W3CDTF">2026-03-14T05:08:31Z</dcterms:created>
  <dcterms:modified xsi:type="dcterms:W3CDTF">2026-03-14T05:09:09Z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D48ABDFC0E384E8E81FF908BF8631927_12</vt:lpwstr>
  </property>
</Properties>
</file>